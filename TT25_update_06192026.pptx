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58" r:id="rId4"/>
    <p:sldId id="256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77"/>
  </p:normalViewPr>
  <p:slideViewPr>
    <p:cSldViewPr snapToGrid="0" showGuides="1">
      <p:cViewPr>
        <p:scale>
          <a:sx n="169" d="100"/>
          <a:sy n="169" d="100"/>
        </p:scale>
        <p:origin x="1928" y="1064"/>
      </p:cViewPr>
      <p:guideLst>
        <p:guide orient="horz" pos="18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90A48-79A5-FB4E-B5E3-3927BB296FF7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E814D-8602-664C-8163-155511A28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2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E814D-8602-664C-8163-155511A28B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47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9993-9EAC-3097-F4BC-7BE89820B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A2756-B160-8052-AAA2-474A78D8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2BE8C-6E8F-3A72-A214-6ED7A7AF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4189-CE91-9E4B-940B-2D2FAB9A528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3186D-297A-58B8-FA02-F642F537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728C3-D5BB-A5FE-7ACD-2078446C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8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0908-3148-58E4-29EC-FAFF623A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C2A5-A471-7EE1-D43E-ABDD768D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E7BD5-FD70-9C8F-3309-CAB1F3F1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7393-DE64-3142-B8BC-604138D45A8A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86B8-89BE-18B2-87EF-41A4E632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2996-B7D9-74E1-C2C0-4EFF2F88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1649-F8F1-FECA-F53D-79BF05A3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1488C-95FD-EBB2-A9C5-F542F85E2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BF47C-E1B6-F3C9-DDA6-1FAFEAAA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49109-945C-864E-81AB-69727669B2B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430E-EDD2-8196-3597-0CE3FD4A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FDEA0-1DF0-6EF4-1B3C-ECF244F8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3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B4DA-D927-E0B2-3887-8A22A0A0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FEC87-6CB7-AC7D-37B0-548CE37B0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72434-F8A0-9E48-9374-65F9674B6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11DFC-E2AE-ACF9-A9D1-3587BAF7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F8D9-A445-DE42-8EB4-51B3D340AD6B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A6EDC-8959-977F-979B-A83E8F9E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CED99-E6BD-863E-8A84-2947BC59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6159-D306-983B-EAFC-54DA0361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5A00E-DC93-1FD8-1FBF-2267FF09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02906-1261-925C-54B3-EB3E5742F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9FE2F-C863-17F3-0A13-A9E578DA4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E366A-6E70-64FB-5ECF-8490EF626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EB94D-D6B3-AA6E-57D4-06392351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49064-6324-B44B-8454-906619D94CD1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9FE69-9896-6CF4-160B-294C548C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C8ABC-EF57-63F9-98FE-BFEFC857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7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9E52-1103-A0C1-AD8F-E811B8A5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61CC6-2853-769B-C1FD-298C4078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881D-1C54-B448-B885-9E844DEC9006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F0B75-9F36-05C0-8BC5-76BC8562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3064A-8991-0E0B-E219-D1984FF4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6583E-B3D9-BFD4-BC5D-1B1B1188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6385-E06C-D848-861F-ACE2205CFDD5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3B820-FC78-E053-7F05-8318B8CB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C8B7C-C875-5F33-3103-073B9FCE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2CCE-BAD8-7216-9341-8CBA472B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99B3-A639-5965-7F55-1E8565252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47D3B-6970-16E4-122D-9061B1182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323FB-BC15-2CBC-B1C9-36CE11EC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16D22-1E31-7748-8279-64753287EAEC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8B2AB-6E7E-B711-317F-C6D720CA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3E86F-AD95-EFAB-1287-AA3ECDB4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3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A056-738F-F482-5D8D-AD41C4AC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FDA71-07C3-3D80-8984-671267D30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7DF0E-5E73-C15B-CD67-D81DF9B73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9AFD8-8B3E-4E59-9020-DF2F7613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26284-144B-C045-85E9-20A0849EC6C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7E415-D3C0-DE24-0101-A91D7E8C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DAA7-2408-752C-2771-07266C99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0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E629-AC0A-8B7B-4A3D-AC8D934B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647D7-B15C-927E-733C-756D5F5C2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DA18-42F9-6CDC-1046-DD1D603C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A415-6140-444F-A562-133AED5876C3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76F88-4D68-5C3B-BF93-033D5A9A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C9D18-3B27-FCE9-8577-2CA697AC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6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E55AF6-A959-D3C0-2C0C-E5DD8905B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6CC94-EF83-45DD-743B-571478E68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CC342-0B19-3E57-4E1F-CCE105F3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825B-146A-F24A-A9BF-C65D7161D71E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D0AD-3BAB-F34B-B634-AD86D2DE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05CD4-8095-A892-ABD0-425B474B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8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55B3B-B3FB-6BD0-83E6-C57C25F0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8AF18-1743-CBF0-56E5-5CA5347B0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69065-B16F-1195-6A51-19CBD5AC4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231C7-A365-4542-A9CA-195ECA3A1E15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C2A8-2E7F-5F25-8CFD-BC6E3308B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50424-0522-0462-55A0-15E4DAD6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599CE-267C-2747-AD7D-E469B7E2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58CD-4E7D-BDF0-6A67-9D56C7ED7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Pot experiment physiology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CB59C-9CC4-8D41-26CA-4D4C88399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Trillium Trail group meeting</a:t>
            </a:r>
          </a:p>
          <a:p>
            <a:r>
              <a:rPr lang="en-US" dirty="0"/>
              <a:t>06.19.2026</a:t>
            </a:r>
          </a:p>
        </p:txBody>
      </p:sp>
    </p:spTree>
    <p:extLst>
      <p:ext uri="{BB962C8B-B14F-4D97-AF65-F5344CB8AC3E}">
        <p14:creationId xmlns:p14="http://schemas.microsoft.com/office/powerpoint/2010/main" val="389621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47B2-CFF3-859D-816A-3E97E7AE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fitting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B74D-B89E-DB19-29FC-FE4E3190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LMEMs include: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Individual fixed effect terms for </a:t>
            </a:r>
            <a:r>
              <a:rPr lang="en-US" dirty="0" err="1"/>
              <a:t>PlantGMTrt</a:t>
            </a:r>
            <a:r>
              <a:rPr lang="en-US" dirty="0"/>
              <a:t>, </a:t>
            </a:r>
            <a:r>
              <a:rPr lang="en-US" dirty="0" err="1"/>
              <a:t>ExpSoilSource</a:t>
            </a:r>
            <a:r>
              <a:rPr lang="en-US" dirty="0"/>
              <a:t>, and </a:t>
            </a:r>
            <a:r>
              <a:rPr lang="en-US" dirty="0" err="1"/>
              <a:t>ExpFungSource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All possible interaction terms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Wet rhizome weight as additional fixed effect to account for size</a:t>
            </a:r>
          </a:p>
          <a:p>
            <a:pPr lvl="2"/>
            <a:r>
              <a:rPr lang="en-US" dirty="0"/>
              <a:t>Better way to do this? Dry aboveground biomass?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Random intercept terms for field plot and photosynthesis machine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08430-D5CD-2AAF-720C-598145EE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6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9678A-7F2E-3B14-62C1-30A8CDA4B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55" y="30908"/>
            <a:ext cx="6858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B03764-4C8A-092F-B64E-3E6EB04DE146}"/>
              </a:ext>
            </a:extLst>
          </p:cNvPr>
          <p:cNvSpPr txBox="1"/>
          <p:nvPr/>
        </p:nvSpPr>
        <p:spPr>
          <a:xfrm>
            <a:off x="6135217" y="5532315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=0.019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AE70B-89D5-F4A8-A2CD-BD75FCD47692}"/>
              </a:ext>
            </a:extLst>
          </p:cNvPr>
          <p:cNvSpPr txBox="1"/>
          <p:nvPr/>
        </p:nvSpPr>
        <p:spPr>
          <a:xfrm>
            <a:off x="9595684" y="2320958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=0.002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7FBD9-BC38-8755-3A31-D73C1BFA53B6}"/>
              </a:ext>
            </a:extLst>
          </p:cNvPr>
          <p:cNvSpPr txBox="1"/>
          <p:nvPr/>
        </p:nvSpPr>
        <p:spPr>
          <a:xfrm>
            <a:off x="6135217" y="2320958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p&lt;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0.001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405CA-E296-188B-31D2-372ACC041FA7}"/>
              </a:ext>
            </a:extLst>
          </p:cNvPr>
          <p:cNvSpPr txBox="1"/>
          <p:nvPr/>
        </p:nvSpPr>
        <p:spPr>
          <a:xfrm>
            <a:off x="9586066" y="5526415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=0.005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4B9E9-D872-257A-BDA2-88E2C1A3EB8E}"/>
              </a:ext>
            </a:extLst>
          </p:cNvPr>
          <p:cNvSpPr txBox="1"/>
          <p:nvPr/>
        </p:nvSpPr>
        <p:spPr>
          <a:xfrm>
            <a:off x="478995" y="335845"/>
            <a:ext cx="434304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Net photosynthesis (</a:t>
            </a:r>
            <a:r>
              <a:rPr lang="en-US" b="1" i="1" dirty="0"/>
              <a:t>A</a:t>
            </a:r>
            <a:r>
              <a:rPr lang="en-US" b="1" baseline="-25000" dirty="0"/>
              <a:t>net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No individual treatment effect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increases net photosynthesis, but only when plants were grown in weeded soils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also only increased net photosynthesis in plants with legacy of growing in weeded plots</a:t>
            </a:r>
          </a:p>
          <a:p>
            <a:pPr marL="285750" indent="-285750">
              <a:buFont typeface="System Font Regular"/>
              <a:buChar char="-"/>
            </a:pPr>
            <a:endParaRPr lang="en-US" dirty="0"/>
          </a:p>
          <a:p>
            <a:r>
              <a:rPr lang="en-US" b="1" dirty="0"/>
              <a:t>Stomatal conductance (</a:t>
            </a:r>
            <a:r>
              <a:rPr lang="en-US" b="1" i="1" dirty="0" err="1"/>
              <a:t>g</a:t>
            </a:r>
            <a:r>
              <a:rPr lang="en-US" b="1" baseline="-25000" dirty="0" err="1"/>
              <a:t>sw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No individual treatment effect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Stomatal conductance is lower in plants grown in weeded soils, but only for those inoculated with ambient AMF</a:t>
            </a:r>
          </a:p>
          <a:p>
            <a:pPr marL="285750" indent="-285750">
              <a:buFont typeface="System Font Regular"/>
              <a:buChar char="-"/>
            </a:pPr>
            <a:endParaRPr lang="en-US" dirty="0"/>
          </a:p>
          <a:p>
            <a:r>
              <a:rPr lang="en-US" b="1" dirty="0"/>
              <a:t>Photosynthetic capacity (</a:t>
            </a:r>
            <a:r>
              <a:rPr lang="en-US" b="1" i="1" dirty="0"/>
              <a:t>V</a:t>
            </a:r>
            <a:r>
              <a:rPr lang="en-US" b="1" baseline="-25000" dirty="0"/>
              <a:t>cmax25</a:t>
            </a:r>
            <a:r>
              <a:rPr lang="en-US" b="1" dirty="0"/>
              <a:t>, </a:t>
            </a:r>
            <a:r>
              <a:rPr lang="en-US" b="1" i="1" dirty="0"/>
              <a:t>J</a:t>
            </a:r>
            <a:r>
              <a:rPr lang="en-US" b="1" baseline="-25000" dirty="0"/>
              <a:t>max25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increased </a:t>
            </a:r>
            <a:r>
              <a:rPr lang="en-US" i="1" dirty="0"/>
              <a:t>V</a:t>
            </a:r>
            <a:r>
              <a:rPr lang="en-US" baseline="-25000" dirty="0"/>
              <a:t>cmax25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baseline="-25000" dirty="0"/>
              <a:t>max25</a:t>
            </a:r>
            <a:r>
              <a:rPr lang="en-US" dirty="0"/>
              <a:t>, but only when plants were grown in weeded soils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also increased parameters when plants had legacy of growing in weeded plots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16E8DD5-05E0-7541-B40D-A78E64A8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9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0CD91BA-262B-C7CC-BC09-3427D5235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17C1DF-8051-DA84-9F83-313D2C29A347}"/>
              </a:ext>
            </a:extLst>
          </p:cNvPr>
          <p:cNvSpPr txBox="1"/>
          <p:nvPr/>
        </p:nvSpPr>
        <p:spPr>
          <a:xfrm>
            <a:off x="637692" y="474345"/>
            <a:ext cx="43430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Area-based leaf N content (</a:t>
            </a:r>
            <a:r>
              <a:rPr lang="en-US" b="1" i="1" dirty="0"/>
              <a:t>N</a:t>
            </a:r>
            <a:r>
              <a:rPr lang="en-US" b="1" baseline="-25000" dirty="0"/>
              <a:t>area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No individual treatment effect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Leaf N content was greater when plants were grown in ambient soils, but only when inoculated with weeded AMF or when plants had ambient treatment legacy</a:t>
            </a:r>
          </a:p>
          <a:p>
            <a:pPr marL="285750" indent="-285750">
              <a:buFont typeface="System Font Regular"/>
              <a:buChar char="-"/>
            </a:pPr>
            <a:endParaRPr lang="en-US" b="1" dirty="0"/>
          </a:p>
          <a:p>
            <a:r>
              <a:rPr lang="en-US" b="1" dirty="0"/>
              <a:t>Photosynthetic nitrogen-use efficiency (PNUE)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No individual treatment effect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increased PNUE in weeded soils; ambient AMF increased PNUE in ambient soils</a:t>
            </a:r>
          </a:p>
          <a:p>
            <a:pPr marL="742950" lvl="1" indent="-285750">
              <a:buFont typeface="System Font Regular"/>
              <a:buChar char="-"/>
            </a:pPr>
            <a:r>
              <a:rPr lang="en-US" dirty="0"/>
              <a:t>Three-way interaction: </a:t>
            </a:r>
            <a:r>
              <a:rPr lang="en-US" dirty="0" err="1"/>
              <a:t>ExpSoilSource</a:t>
            </a:r>
            <a:r>
              <a:rPr lang="en-US" dirty="0"/>
              <a:t> * </a:t>
            </a:r>
            <a:r>
              <a:rPr lang="en-US" dirty="0" err="1"/>
              <a:t>ExpFungSource</a:t>
            </a:r>
            <a:r>
              <a:rPr lang="en-US" dirty="0"/>
              <a:t> interaction only observed in plants with weeded treatment legacy</a:t>
            </a:r>
          </a:p>
          <a:p>
            <a:pPr marL="285750" indent="-285750">
              <a:buFont typeface="System Font Regular"/>
              <a:buChar char="-"/>
            </a:pPr>
            <a:endParaRPr lang="en-US" dirty="0"/>
          </a:p>
          <a:p>
            <a:r>
              <a:rPr lang="en-US" b="1" dirty="0"/>
              <a:t>Intrinsic water-use efficiency (</a:t>
            </a:r>
            <a:r>
              <a:rPr lang="en-US" b="1" dirty="0" err="1"/>
              <a:t>iWUE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No individual or interaction effect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3F8EC-27E4-EBA8-8ACF-645878CEF02A}"/>
              </a:ext>
            </a:extLst>
          </p:cNvPr>
          <p:cNvSpPr txBox="1"/>
          <p:nvPr/>
        </p:nvSpPr>
        <p:spPr>
          <a:xfrm>
            <a:off x="6227161" y="2306795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p=0.052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0F44A-361F-0AC8-C4FD-AB9C78347563}"/>
              </a:ext>
            </a:extLst>
          </p:cNvPr>
          <p:cNvSpPr txBox="1"/>
          <p:nvPr/>
        </p:nvSpPr>
        <p:spPr>
          <a:xfrm>
            <a:off x="9658050" y="2308697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=0.042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C00D5-AE99-BAFE-6465-8D70385D1385}"/>
              </a:ext>
            </a:extLst>
          </p:cNvPr>
          <p:cNvSpPr txBox="1"/>
          <p:nvPr/>
        </p:nvSpPr>
        <p:spPr>
          <a:xfrm>
            <a:off x="6227161" y="5511282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=0.763</a:t>
            </a:r>
          </a:p>
        </p:txBody>
      </p:sp>
    </p:spTree>
    <p:extLst>
      <p:ext uri="{BB962C8B-B14F-4D97-AF65-F5344CB8AC3E}">
        <p14:creationId xmlns:p14="http://schemas.microsoft.com/office/powerpoint/2010/main" val="2021084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9F6F0C-4AD3-B486-5426-3BBC06EEC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859" y="952184"/>
            <a:ext cx="4666555" cy="5133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50FDD2-2556-D15D-3C86-80BC398E09FC}"/>
              </a:ext>
            </a:extLst>
          </p:cNvPr>
          <p:cNvSpPr txBox="1"/>
          <p:nvPr/>
        </p:nvSpPr>
        <p:spPr>
          <a:xfrm>
            <a:off x="985315" y="2320866"/>
            <a:ext cx="4343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Leaf </a:t>
            </a:r>
            <a:r>
              <a:rPr lang="el-GR" b="1" dirty="0"/>
              <a:t>δ</a:t>
            </a:r>
            <a:r>
              <a:rPr lang="en-US" b="1" baseline="30000" dirty="0"/>
              <a:t>15</a:t>
            </a:r>
            <a:r>
              <a:rPr lang="en-US" b="1" dirty="0"/>
              <a:t>N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increased leaf </a:t>
            </a:r>
            <a:r>
              <a:rPr lang="el-GR" dirty="0"/>
              <a:t>δ</a:t>
            </a:r>
            <a:r>
              <a:rPr lang="en-US" baseline="30000" dirty="0"/>
              <a:t>15</a:t>
            </a:r>
            <a:r>
              <a:rPr lang="en-US" dirty="0"/>
              <a:t>N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Plants grown in weeded soils  have marginally greater leaf </a:t>
            </a:r>
            <a:r>
              <a:rPr lang="el-GR" dirty="0"/>
              <a:t>δ</a:t>
            </a:r>
            <a:r>
              <a:rPr lang="en-US" baseline="30000" dirty="0"/>
              <a:t>15</a:t>
            </a:r>
            <a:r>
              <a:rPr lang="en-US" dirty="0"/>
              <a:t>N (</a:t>
            </a:r>
            <a:r>
              <a:rPr lang="en-US" i="1" dirty="0"/>
              <a:t>p</a:t>
            </a:r>
            <a:r>
              <a:rPr lang="en-US" dirty="0"/>
              <a:t>=0.061)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95E00D-CD84-6678-FA64-95D00B205A60}"/>
              </a:ext>
            </a:extLst>
          </p:cNvPr>
          <p:cNvSpPr txBox="1"/>
          <p:nvPr/>
        </p:nvSpPr>
        <p:spPr>
          <a:xfrm>
            <a:off x="7972834" y="4352191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=0.109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9FA58E9-47AF-49FA-72A4-27264C52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6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F82BDD-1E93-3415-9928-E5FDFD4B8B75}"/>
              </a:ext>
            </a:extLst>
          </p:cNvPr>
          <p:cNvSpPr txBox="1"/>
          <p:nvPr/>
        </p:nvSpPr>
        <p:spPr>
          <a:xfrm>
            <a:off x="985315" y="2320866"/>
            <a:ext cx="43430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leaf area</a:t>
            </a:r>
            <a:endParaRPr lang="en-US" dirty="0"/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Weeded AMF increase total leaf area</a:t>
            </a:r>
          </a:p>
          <a:p>
            <a:pPr marL="285750" indent="-285750">
              <a:buFont typeface="System Font Regular"/>
              <a:buChar char="-"/>
            </a:pPr>
            <a:r>
              <a:rPr lang="en-US" dirty="0"/>
              <a:t>Marginal three-way interaction: weeded AMF increased total leaf area in ambient soils only, but this interaction was also only observed in plants with weeded treatment legacy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C3A383-46C3-F8CD-6A73-BCC509B1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088" y="1314923"/>
            <a:ext cx="4427729" cy="48705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73CA48-FC26-3D6F-A7FE-3EF31AB349D8}"/>
              </a:ext>
            </a:extLst>
          </p:cNvPr>
          <p:cNvSpPr txBox="1"/>
          <p:nvPr/>
        </p:nvSpPr>
        <p:spPr>
          <a:xfrm>
            <a:off x="7935049" y="4533560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AMF × Soil source: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=0.176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DB9290-669C-273E-E784-F51E3E35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5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FA80-7BF3-C044-6643-3780E24A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0503-6B10-EE5A-5356-B0317CB74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73430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Photosynthetic and leaf </a:t>
            </a:r>
            <a:r>
              <a:rPr lang="el-GR" dirty="0"/>
              <a:t>δ</a:t>
            </a:r>
            <a:r>
              <a:rPr lang="en-US" baseline="30000" dirty="0"/>
              <a:t>15</a:t>
            </a:r>
            <a:r>
              <a:rPr lang="en-US" dirty="0"/>
              <a:t>N responses are coordinated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Photosynthetic responses are predominately nutrient-driven</a:t>
            </a:r>
          </a:p>
          <a:p>
            <a:pPr lvl="1"/>
            <a:r>
              <a:rPr lang="en-US" dirty="0"/>
              <a:t>Strong leaf N, photosynthetic capacity treatment responses, limited stomatal conductance and water-use efficiency treatment responses</a:t>
            </a:r>
          </a:p>
          <a:p>
            <a:pPr lvl="1"/>
            <a:r>
              <a:rPr lang="en-US" dirty="0"/>
              <a:t>Same as field observations</a:t>
            </a:r>
          </a:p>
          <a:p>
            <a:pPr lvl="1"/>
            <a:endParaRPr lang="en-US" dirty="0"/>
          </a:p>
          <a:p>
            <a:r>
              <a:rPr lang="en-US" dirty="0"/>
              <a:t>Soil source plays an important role in shaping fungal source responses. Soil characteristics will help clarify mechanism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9D329-BBCD-9373-EF28-2CB1D72F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9CE-267C-2747-AD7D-E469B7E2A5A0}" type="slidenum">
              <a:rPr lang="en-US" smtClean="0"/>
              <a:t>7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FCB0F8-6CE8-00BB-270D-AC744583FFDB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718057" y="2848997"/>
            <a:ext cx="1312402" cy="3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B87FC3-228E-410A-5DCD-402B98D7529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7085970" y="2848998"/>
            <a:ext cx="1312403" cy="1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43DDF1-138B-3EAD-EF0D-A9C525C48361}"/>
              </a:ext>
            </a:extLst>
          </p:cNvPr>
          <p:cNvSpPr txBox="1"/>
          <p:nvPr/>
        </p:nvSpPr>
        <p:spPr>
          <a:xfrm>
            <a:off x="4158494" y="2321097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37D493-1694-F15C-17EB-9FCC3726764F}"/>
              </a:ext>
            </a:extLst>
          </p:cNvPr>
          <p:cNvSpPr txBox="1"/>
          <p:nvPr/>
        </p:nvSpPr>
        <p:spPr>
          <a:xfrm>
            <a:off x="7526408" y="2352270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3F6972-8634-A9A1-0201-BC4AEC73ED78}"/>
              </a:ext>
            </a:extLst>
          </p:cNvPr>
          <p:cNvSpPr/>
          <p:nvPr/>
        </p:nvSpPr>
        <p:spPr>
          <a:xfrm>
            <a:off x="1662546" y="2456034"/>
            <a:ext cx="2055511" cy="78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Weeded AMF community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6BB80-27DD-B5B0-1B22-152307745554}"/>
              </a:ext>
            </a:extLst>
          </p:cNvPr>
          <p:cNvSpPr/>
          <p:nvPr/>
        </p:nvSpPr>
        <p:spPr>
          <a:xfrm>
            <a:off x="5030459" y="2456033"/>
            <a:ext cx="2055511" cy="78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 uptake through AMF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7FF42F-0E93-A724-4283-3DF733BCAE30}"/>
              </a:ext>
            </a:extLst>
          </p:cNvPr>
          <p:cNvSpPr/>
          <p:nvPr/>
        </p:nvSpPr>
        <p:spPr>
          <a:xfrm>
            <a:off x="8398373" y="2456032"/>
            <a:ext cx="2055511" cy="78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Photosynthetic N investment</a:t>
            </a:r>
          </a:p>
        </p:txBody>
      </p:sp>
    </p:spTree>
    <p:extLst>
      <p:ext uri="{BB962C8B-B14F-4D97-AF65-F5344CB8AC3E}">
        <p14:creationId xmlns:p14="http://schemas.microsoft.com/office/powerpoint/2010/main" val="18401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460</Words>
  <Application>Microsoft Macintosh PowerPoint</Application>
  <PresentationFormat>Widescreen</PresentationFormat>
  <Paragraphs>74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System Font Regular</vt:lpstr>
      <vt:lpstr>Office Theme</vt:lpstr>
      <vt:lpstr>Pot experiment physiology update</vt:lpstr>
      <vt:lpstr>Model fitting notes</vt:lpstr>
      <vt:lpstr>PowerPoint Presentation</vt:lpstr>
      <vt:lpstr>PowerPoint Presentation</vt:lpstr>
      <vt:lpstr>PowerPoint Presentation</vt:lpstr>
      <vt:lpstr>PowerPoint Presentation</vt:lpstr>
      <vt:lpstr>Some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Perkowski, Evan A</dc:creator>
  <cp:lastModifiedBy>Perkowski, Evan A</cp:lastModifiedBy>
  <cp:revision>5</cp:revision>
  <dcterms:created xsi:type="dcterms:W3CDTF">2026-06-18T15:51:00Z</dcterms:created>
  <dcterms:modified xsi:type="dcterms:W3CDTF">2026-06-18T21:07:49Z</dcterms:modified>
</cp:coreProperties>
</file>